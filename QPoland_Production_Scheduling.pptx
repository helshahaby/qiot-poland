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9BEB1"/>
                </a:solidFill>
                <a:latin typeface="Aptos"/>
              </a:defRPr>
            </a:pPr>
            <a:r>
              <a:t>QPOLAND • METALTECH ERP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Production Scheduling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85800" cy="6400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 quantum-ready, hybrid workflow for scheduling urgent factory orders.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Hossam Elshahaby</a:t>
            </a: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QPoland Hack • Google Colab demo</a:t>
            </a:r>
          </a:p>
        </p:txBody>
      </p:sp>
      <p:sp>
        <p:nvSpPr>
          <p:cNvPr id="8" name="Oval 7"/>
          <p:cNvSpPr/>
          <p:nvPr/>
        </p:nvSpPr>
        <p:spPr>
          <a:xfrm>
            <a:off x="7589520" y="2423160"/>
            <a:ext cx="1005840" cy="1005840"/>
          </a:xfrm>
          <a:prstGeom prst="ellipse">
            <a:avLst/>
          </a:prstGeom>
          <a:solidFill>
            <a:srgbClr val="268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T • LATHE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19BE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8823960" y="2423160"/>
            <a:ext cx="1005840" cy="1005840"/>
          </a:xfrm>
          <a:prstGeom prst="ellipse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 • MILLING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19BE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2423160"/>
            <a:ext cx="1005840" cy="1005840"/>
          </a:xfrm>
          <a:prstGeom prst="ellipse">
            <a:avLst/>
          </a:prstGeom>
          <a:solidFill>
            <a:srgbClr val="F5A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566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 • WELDING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9BEB1"/>
                </a:solidFill>
                <a:latin typeface="Aptos"/>
              </a:defRPr>
            </a:pPr>
            <a:r>
              <a:t>QPOLAND • METALTECH ERP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The problem: every minute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85800" cy="6400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MetalTech receives an urgent batch.</a:t>
            </a:r>
          </a:p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• Each job must visit machines in fixed order.</a:t>
            </a:r>
          </a:p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• Each machine handles one operation at a time.</a:t>
            </a:r>
          </a:p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• Operations cannot overlap on the same machine.</a:t>
            </a:r>
          </a:p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• The production manager wants the earliest possible finish.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9BEB1"/>
                </a:solidFill>
                <a:latin typeface="Aptos"/>
              </a:defRPr>
            </a:pPr>
            <a:r>
              <a:t>Objective: minimize makespan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Makespan = time when the final operation completes.</a:t>
            </a: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A valid schedule must satisfy both machine capacity and job precedence.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9BEB1"/>
                </a:solidFill>
                <a:latin typeface="Aptos"/>
              </a:defRPr>
            </a:pPr>
            <a:r>
              <a:t>QPOLAND • METALTECH ERP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Solution: exact baseline + QUBO-ready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85800" cy="6400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1  Parse the instance</a:t>
            </a:r>
          </a:p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2  Build candidate job sequences</a:t>
            </a:r>
          </a:p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3  Evaluate start/finish times</a:t>
            </a:r>
          </a:p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4  Validate every hard constraint</a:t>
            </a:r>
          </a:p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5  Export machine-readable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Small baseline instances use an exact enumerator as a correctness oracle.</a:t>
            </a: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Optional backends: simulated annealing (QUBO) and OR-Tools CP-SAT.</a:t>
            </a: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B8C8DB"/>
                </a:solidFill>
                <a:latin typeface="Aptos"/>
              </a:defRPr>
            </a:pPr>
            <a:r>
              <a:t>Quantum hardware/simulator integration is an extension point—not a claimed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9BEB1"/>
                </a:solidFill>
                <a:latin typeface="Aptos"/>
              </a:defRPr>
            </a:pPr>
            <a:r>
              <a:t>QPOLAND • METALTECH ERP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Features &amp;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85800" cy="6400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✓ Mandatory Instance A: 2 jobs × 2 machines</a:t>
            </a:r>
          </a:p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✓ Mandatory Instance B: 3 jobs × 3 machines</a:t>
            </a:r>
          </a:p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✓ JSON exports: schedule_2x2.json / schedule_3x3.json</a:t>
            </a:r>
          </a:p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✓ Feasibility checks: uniqueness, precedence, no overlap</a:t>
            </a:r>
          </a:p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✓ Colab notebook with optional solver comparisons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9BEB1"/>
                </a:solidFill>
                <a:latin typeface="Aptos"/>
              </a:defRPr>
            </a:pPr>
            <a:r>
              <a:t>Designed for extension:</a:t>
            </a:r>
          </a:p>
          <a:p>
            <a:pPr>
              <a:spcAft>
                <a:spcPts val="900"/>
              </a:spcAft>
              <a:defRPr sz="1800" b="1">
                <a:solidFill>
                  <a:srgbClr val="19BEB1"/>
                </a:solidFill>
                <a:latin typeface="Aptos"/>
              </a:defRPr>
            </a:pPr>
            <a:r>
              <a:t>• Add due dates and tardiness penalties</a:t>
            </a:r>
          </a:p>
          <a:p>
            <a:pPr>
              <a:spcAft>
                <a:spcPts val="900"/>
              </a:spcAft>
              <a:defRPr sz="1800" b="1">
                <a:solidFill>
                  <a:srgbClr val="19BEB1"/>
                </a:solidFill>
                <a:latin typeface="Aptos"/>
              </a:defRPr>
            </a:pPr>
            <a:r>
              <a:t>• Add sequence-dependent setup times</a:t>
            </a:r>
          </a:p>
          <a:p>
            <a:pPr>
              <a:spcAft>
                <a:spcPts val="900"/>
              </a:spcAft>
              <a:defRPr sz="1800" b="1">
                <a:solidFill>
                  <a:srgbClr val="19BEB1"/>
                </a:solidFill>
                <a:latin typeface="Aptos"/>
              </a:defRPr>
            </a:pPr>
            <a:r>
              <a:t>• Replan after machine disruptions</a:t>
            </a:r>
          </a:p>
          <a:p>
            <a:pPr>
              <a:spcAft>
                <a:spcPts val="900"/>
              </a:spcAft>
              <a:defRPr sz="1800" b="1">
                <a:solidFill>
                  <a:srgbClr val="19BEB1"/>
                </a:solidFill>
                <a:latin typeface="Aptos"/>
              </a:defRPr>
            </a:pPr>
            <a:r>
              <a:t>• Compare solver quality, runtime and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9BEB1"/>
                </a:solidFill>
                <a:latin typeface="Aptos"/>
              </a:defRPr>
            </a:pPr>
            <a:r>
              <a:t>QPOLAND • METALTECH ERP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Demo: from jobs to a feasible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85800" cy="6400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Run all cells in Google Colab.</a:t>
            </a:r>
          </a:p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The notebook prints the best sequence, validates each schedule, and exports the two required JSON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754880" cy="3200400"/>
          </a:xfrm>
          <a:prstGeom prst="rect">
            <a:avLst/>
          </a:prstGeom>
          <a:solidFill>
            <a:srgbClr val="23385B"/>
          </a:solidFill>
          <a:ln>
            <a:solidFill>
              <a:srgbClr val="268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9BEB1"/>
                </a:solidFill>
                <a:latin typeface="Aptos"/>
              </a:defRPr>
            </a:pPr>
            <a:r>
              <a:t>Illustrative 3×3 Gantt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697480"/>
            <a:ext cx="960120" cy="384048"/>
          </a:xfrm>
          <a:prstGeom prst="rect">
            <a:avLst/>
          </a:prstGeom>
          <a:solidFill>
            <a:srgbClr val="268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2697480"/>
            <a:ext cx="960120" cy="38404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2697480"/>
            <a:ext cx="960120" cy="384048"/>
          </a:xfrm>
          <a:prstGeom prst="rect">
            <a:avLst/>
          </a:prstGeom>
          <a:solidFill>
            <a:srgbClr val="F5A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3291840"/>
            <a:ext cx="960120" cy="384048"/>
          </a:xfrm>
          <a:prstGeom prst="rect">
            <a:avLst/>
          </a:prstGeom>
          <a:solidFill>
            <a:srgbClr val="268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91840"/>
            <a:ext cx="960120" cy="38404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3291840"/>
            <a:ext cx="960120" cy="384048"/>
          </a:xfrm>
          <a:prstGeom prst="rect">
            <a:avLst/>
          </a:prstGeom>
          <a:solidFill>
            <a:srgbClr val="F5A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886200"/>
            <a:ext cx="960120" cy="384048"/>
          </a:xfrm>
          <a:prstGeom prst="rect">
            <a:avLst/>
          </a:prstGeom>
          <a:solidFill>
            <a:srgbClr val="268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3886200"/>
            <a:ext cx="960120" cy="38404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3886200"/>
            <a:ext cx="960120" cy="384048"/>
          </a:xfrm>
          <a:prstGeom prst="rect">
            <a:avLst/>
          </a:prstGeom>
          <a:solidFill>
            <a:srgbClr val="F5A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9BEB1"/>
                </a:solidFill>
                <a:latin typeface="Aptos"/>
              </a:defRPr>
            </a:pPr>
            <a:r>
              <a:t>QPOLAND • METALTECH ERP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85800" cy="64008"/>
          </a:xfrm>
          <a:prstGeom prst="rect">
            <a:avLst/>
          </a:prstGeom>
          <a:solidFill>
            <a:srgbClr val="1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From a valid schedule to a measurable optimization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B8C8DB"/>
                </a:solidFill>
                <a:latin typeface="Aptos"/>
              </a:defRPr>
            </a:pPr>
            <a:r>
              <a:t>Notebook: QPoland_Production_Scheduling.ipynb</a:t>
            </a:r>
          </a:p>
          <a:p>
            <a:pPr>
              <a:spcAft>
                <a:spcPts val="900"/>
              </a:spcAft>
              <a:defRPr sz="1700" b="0">
                <a:solidFill>
                  <a:srgbClr val="B8C8DB"/>
                </a:solidFill>
                <a:latin typeface="Aptos"/>
              </a:defRPr>
            </a:pPr>
            <a:r>
              <a:t>Outputs: schedule_2x2.json • schedule_3x3.json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9BEB1"/>
                </a:solidFill>
                <a:latin typeface="Aptos"/>
              </a:defRPr>
            </a:pPr>
            <a:r>
              <a:t>Q → C</a:t>
            </a:r>
          </a:p>
          <a:p>
            <a:pPr>
              <a:spcAft>
                <a:spcPts val="900"/>
              </a:spcAft>
              <a:defRPr sz="2600" b="1">
                <a:solidFill>
                  <a:srgbClr val="19BEB1"/>
                </a:solidFill>
                <a:latin typeface="Aptos"/>
              </a:defRPr>
            </a:pPr>
            <a:r>
              <a:t>Hybrid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